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AD8"/>
    <a:srgbClr val="FF9300"/>
    <a:srgbClr val="FFC107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03"/>
    <p:restoredTop sz="92254"/>
  </p:normalViewPr>
  <p:slideViewPr>
    <p:cSldViewPr snapToGrid="0">
      <p:cViewPr varScale="1">
        <p:scale>
          <a:sx n="162" d="100"/>
          <a:sy n="162" d="100"/>
        </p:scale>
        <p:origin x="5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C7CEB-6913-7141-84FA-0B6E6AC3C4AC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44D1E-47DC-594D-AEA4-BCEE556F4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919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Harvesting, scientific advice, ecosystem degradation are dominant action situations driving collapse. </a:t>
            </a:r>
          </a:p>
          <a:p>
            <a:pPr marL="171450" indent="-171450">
              <a:buFontTx/>
              <a:buChar char="-"/>
            </a:pPr>
            <a:r>
              <a:rPr lang="en-US" dirty="0"/>
              <a:t>Harvesting: fishing &amp; recreational</a:t>
            </a:r>
          </a:p>
          <a:p>
            <a:pPr marL="171450" indent="-171450">
              <a:buFontTx/>
              <a:buChar char="-"/>
            </a:pPr>
            <a:r>
              <a:rPr lang="en-US" dirty="0"/>
              <a:t>Scientific advice: overestimation of stock</a:t>
            </a:r>
          </a:p>
          <a:p>
            <a:pPr marL="171450" indent="-171450">
              <a:buFontTx/>
              <a:buChar char="-"/>
            </a:pPr>
            <a:r>
              <a:rPr lang="en-US" dirty="0"/>
              <a:t>Ecosystem degradation: eutrophication, oxygen depletion &amp; temperature increase</a:t>
            </a:r>
          </a:p>
          <a:p>
            <a:pPr marL="171450" indent="-171450">
              <a:buFontTx/>
              <a:buChar char="-"/>
            </a:pPr>
            <a:r>
              <a:rPr lang="en-US" dirty="0"/>
              <a:t>Predators (might hinder recovery)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44D1E-47DC-594D-AEA4-BCEE556F4F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94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1F424-CA72-2A9F-D254-4070ACA50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C40D25-AA55-1B43-5279-F7D052149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1898E1-E8D7-1D45-3FA4-D885376D5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Harvesting, scientific advice, ecosystem degradation are dominant action situations driving collapse. </a:t>
            </a:r>
          </a:p>
          <a:p>
            <a:pPr marL="171450" indent="-171450">
              <a:buFontTx/>
              <a:buChar char="-"/>
            </a:pPr>
            <a:r>
              <a:rPr lang="en-US" dirty="0"/>
              <a:t>Harvesting: fishing &amp; recreational</a:t>
            </a:r>
          </a:p>
          <a:p>
            <a:pPr marL="171450" indent="-171450">
              <a:buFontTx/>
              <a:buChar char="-"/>
            </a:pPr>
            <a:r>
              <a:rPr lang="en-US" dirty="0"/>
              <a:t>Scientific advice: overestimation of stock</a:t>
            </a:r>
          </a:p>
          <a:p>
            <a:pPr marL="171450" indent="-171450">
              <a:buFontTx/>
              <a:buChar char="-"/>
            </a:pPr>
            <a:r>
              <a:rPr lang="en-US" dirty="0"/>
              <a:t>Ecosystem degradation: eutrophication, oxygen depletion &amp; temperature increase</a:t>
            </a:r>
          </a:p>
          <a:p>
            <a:pPr marL="171450" indent="-171450">
              <a:buFontTx/>
              <a:buChar char="-"/>
            </a:pPr>
            <a:r>
              <a:rPr lang="en-US" dirty="0"/>
              <a:t>Predators (might hinder recovery)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3B5CD-5255-E397-5D0E-F1FEA1E8E9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44D1E-47DC-594D-AEA4-BCEE556F4F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86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E8E87-F978-6CE9-432F-87EB80F34E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89CA3-D3E8-19B6-E20C-17E52000D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FBC9E-6554-43EB-BFF0-A4448B3BA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ED42-8AE7-044B-B9B1-749BF79000C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865D0-412C-BB62-6473-5113E9003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8C256-7049-91A0-44BD-C8E9CB655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2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96455-F068-BE9F-9381-6FAD32890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E5FBE-4C64-80BF-4647-FA617BD43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5A590-BC72-BCF0-D43B-60356D351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ED42-8AE7-044B-B9B1-749BF79000C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6F1DB-D729-8E99-B28E-B4735AB36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2D2E2-27E2-2289-4918-1951501B9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4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64096-9A41-CCDA-BF7C-00948F6E9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5541D-EE29-21BE-1A21-8B6186115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F807E-7F99-A330-56A3-69C5B0A43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ED42-8AE7-044B-B9B1-749BF79000C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A38C4-2BD4-A4EB-CEE0-55CC56D13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268F4-A36C-B78E-77CF-D6BA3E5EA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90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BE53-6F0B-54A5-7D2C-3AE67DC4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74E6D-1607-66C5-685A-2EA93D23A1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5CC82-23F6-6E8C-0145-AE27E1CFB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457A3-16B0-5341-972F-D2F4F1F3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ED42-8AE7-044B-B9B1-749BF79000C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0299E-5CEA-1C43-B3BF-60BA4EDAC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01A10-055F-21EF-93A6-D89F9B890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54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8EECE-4CAA-DF87-D22B-BE0FC1E3B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54F6B-199A-D080-CADF-CF29C14DF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3081A-DF67-C7FD-F0C2-C941E7053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02B0DF-4646-DDDD-3887-3E85EFB4B6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5B432F-98F9-F561-60F4-CACEB95700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E692E9-5B72-997E-26EF-B534C527A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ED42-8AE7-044B-B9B1-749BF79000C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1C1E59-6ABB-EFB8-0653-C82ADFCAE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156A15-7962-8790-13AD-3FDE03635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51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B184-91B2-F796-2AC8-48ED2F5F9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344F24-534B-7794-E2E5-D1BB3DD87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ED42-8AE7-044B-B9B1-749BF79000C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9AD284-CA15-97FC-681B-9DC41C2D4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520342-F9F0-93B9-17C7-727277B3B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372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E7C44C-C4C7-CCD1-48A1-85D04723E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ED42-8AE7-044B-B9B1-749BF79000C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DEDC40-D422-ECE6-8FB1-638E9AF8F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4225C-03A7-B427-9E5E-BC0F86628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45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DFDB-D68D-6D63-A086-18085021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BBBA8-3734-E451-C1A5-55DE7A321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EF439-783D-D866-4FF7-D678C1E86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7FDF8-5DB8-980B-FD4A-E8AB9FDA7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ED42-8AE7-044B-B9B1-749BF79000C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40760-377F-4821-288A-06D1515B0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2C7C3-5BAF-E13B-FA48-64BF10190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11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F2F9B-5048-5F79-47C2-415A5C61C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176D58-2021-1D2C-B2F0-5C78AA960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4DEBC-2192-FED4-88D9-E0F1B3805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1E8F9-F146-51A0-E708-A353D37D9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ED42-8AE7-044B-B9B1-749BF79000C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00AFD-1EBA-1A5D-B9D8-0F18FDF7F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EFF2F-9738-F7A6-90BE-8D5FE5E86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35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4E716-F5A9-6F2B-B101-0A3157786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51E2BB-8531-6D6D-FA30-E5FB2F64D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40407-D4DA-0A9E-DEFE-0B8943CCA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ED42-8AE7-044B-B9B1-749BF79000C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2D518-12CA-370E-0973-2AEA9D4C8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93719-A25C-7105-B548-0DCE9569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87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0CF347-A2D8-CDDA-AAD9-C394E117E8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1A8E5E-1CA3-855A-6C86-3B670A9F8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D9D9B-32EF-E649-BC8A-A16B5B75C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ED42-8AE7-044B-B9B1-749BF79000C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24D60-9315-5600-BDA4-8E4A6256E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8D46A-20D6-2E3C-68AE-AEE10E629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911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6C3FE3-9D71-87BA-E4EC-B6AB2AFB1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A2167-61AA-86BC-712B-63CE7CE7B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90ED2-CD5A-24C6-45AB-CA6A749EE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1ED42-8AE7-044B-B9B1-749BF79000CE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AF490-ECE5-0A47-C7CF-626D9B621D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78E70-F812-FE48-438F-F66A98498D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A82999-769C-3140-8D65-979FB69CD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92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18" Type="http://schemas.openxmlformats.org/officeDocument/2006/relationships/image" Target="../media/image15.svg"/><Relationship Id="rId3" Type="http://schemas.openxmlformats.org/officeDocument/2006/relationships/image" Target="../media/image1.png"/><Relationship Id="rId21" Type="http://schemas.openxmlformats.org/officeDocument/2006/relationships/image" Target="../media/image18.png"/><Relationship Id="rId7" Type="http://schemas.openxmlformats.org/officeDocument/2006/relationships/image" Target="../media/image5.svg"/><Relationship Id="rId12" Type="http://schemas.openxmlformats.org/officeDocument/2006/relationships/image" Target="../media/image9.sv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svg"/><Relationship Id="rId20" Type="http://schemas.openxmlformats.org/officeDocument/2006/relationships/image" Target="../media/image1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2.svg"/><Relationship Id="rId9" Type="http://schemas.microsoft.com/office/2007/relationships/hdphoto" Target="../media/hdphoto1.wdp"/><Relationship Id="rId14" Type="http://schemas.openxmlformats.org/officeDocument/2006/relationships/image" Target="../media/image11.svg"/><Relationship Id="rId22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18" Type="http://schemas.openxmlformats.org/officeDocument/2006/relationships/image" Target="../media/image15.svg"/><Relationship Id="rId3" Type="http://schemas.openxmlformats.org/officeDocument/2006/relationships/image" Target="../media/image1.png"/><Relationship Id="rId21" Type="http://schemas.openxmlformats.org/officeDocument/2006/relationships/image" Target="../media/image18.png"/><Relationship Id="rId7" Type="http://schemas.openxmlformats.org/officeDocument/2006/relationships/image" Target="../media/image5.svg"/><Relationship Id="rId12" Type="http://schemas.openxmlformats.org/officeDocument/2006/relationships/image" Target="../media/image9.sv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3.svg"/><Relationship Id="rId20" Type="http://schemas.openxmlformats.org/officeDocument/2006/relationships/image" Target="../media/image1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2.svg"/><Relationship Id="rId9" Type="http://schemas.microsoft.com/office/2007/relationships/hdphoto" Target="../media/hdphoto3.wdp"/><Relationship Id="rId14" Type="http://schemas.openxmlformats.org/officeDocument/2006/relationships/image" Target="../media/image11.svg"/><Relationship Id="rId22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roup 172">
            <a:extLst>
              <a:ext uri="{FF2B5EF4-FFF2-40B4-BE49-F238E27FC236}">
                <a16:creationId xmlns:a16="http://schemas.microsoft.com/office/drawing/2014/main" id="{167B5530-D004-6416-899E-ABAACFEE8806}"/>
              </a:ext>
            </a:extLst>
          </p:cNvPr>
          <p:cNvGrpSpPr/>
          <p:nvPr/>
        </p:nvGrpSpPr>
        <p:grpSpPr>
          <a:xfrm>
            <a:off x="641839" y="294538"/>
            <a:ext cx="10896538" cy="6352446"/>
            <a:chOff x="641839" y="294538"/>
            <a:chExt cx="10896538" cy="6352446"/>
          </a:xfrm>
        </p:grpSpPr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8A6BE657-59D0-1B2B-5905-2F0E23E7772A}"/>
                </a:ext>
              </a:extLst>
            </p:cNvPr>
            <p:cNvSpPr/>
            <p:nvPr/>
          </p:nvSpPr>
          <p:spPr>
            <a:xfrm>
              <a:off x="641839" y="312122"/>
              <a:ext cx="10893670" cy="3604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E840B125-A16C-ACFD-5FDF-AF64199FEDC1}"/>
                </a:ext>
              </a:extLst>
            </p:cNvPr>
            <p:cNvSpPr/>
            <p:nvPr/>
          </p:nvSpPr>
          <p:spPr>
            <a:xfrm>
              <a:off x="641839" y="663869"/>
              <a:ext cx="10893670" cy="59831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741D4A39-8933-FA59-5CC4-3E0EB1399AA9}"/>
                </a:ext>
              </a:extLst>
            </p:cNvPr>
            <p:cNvGrpSpPr/>
            <p:nvPr/>
          </p:nvGrpSpPr>
          <p:grpSpPr>
            <a:xfrm>
              <a:off x="653622" y="663870"/>
              <a:ext cx="10884755" cy="5978288"/>
              <a:chOff x="746406" y="114546"/>
              <a:chExt cx="10884755" cy="5978288"/>
            </a:xfrm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05DF79CE-701D-4031-91A5-7FA2421B585E}"/>
                  </a:ext>
                </a:extLst>
              </p:cNvPr>
              <p:cNvSpPr/>
              <p:nvPr/>
            </p:nvSpPr>
            <p:spPr>
              <a:xfrm>
                <a:off x="5177363" y="2396415"/>
                <a:ext cx="2208471" cy="5127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71439B9F-896C-BD49-0B65-9D6D4B1BD6DA}"/>
                  </a:ext>
                </a:extLst>
              </p:cNvPr>
              <p:cNvSpPr/>
              <p:nvPr/>
            </p:nvSpPr>
            <p:spPr>
              <a:xfrm>
                <a:off x="7423299" y="114546"/>
                <a:ext cx="4207862" cy="597828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6DCB2630-39A7-BD4B-C889-CD4911CFF6CA}"/>
                  </a:ext>
                </a:extLst>
              </p:cNvPr>
              <p:cNvSpPr/>
              <p:nvPr/>
            </p:nvSpPr>
            <p:spPr>
              <a:xfrm>
                <a:off x="746406" y="114546"/>
                <a:ext cx="6673580" cy="597828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717D43CF-F3D1-E830-73AF-57FADC7982EF}"/>
                  </a:ext>
                </a:extLst>
              </p:cNvPr>
              <p:cNvSpPr/>
              <p:nvPr/>
            </p:nvSpPr>
            <p:spPr>
              <a:xfrm>
                <a:off x="9339628" y="452617"/>
                <a:ext cx="1440000" cy="144000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  <a:alpha val="4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CF8F07F2-7F9E-C78D-1EFD-30847E7FDA4D}"/>
                  </a:ext>
                </a:extLst>
              </p:cNvPr>
              <p:cNvSpPr/>
              <p:nvPr/>
            </p:nvSpPr>
            <p:spPr>
              <a:xfrm>
                <a:off x="10102440" y="452617"/>
                <a:ext cx="1440000" cy="1440000"/>
              </a:xfrm>
              <a:prstGeom prst="ellipse">
                <a:avLst/>
              </a:prstGeom>
              <a:solidFill>
                <a:schemeClr val="bg1">
                  <a:lumMod val="65000"/>
                  <a:alpha val="62042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62D6AAC1-16C0-5700-2B97-D6E3F785D1EC}"/>
                  </a:ext>
                </a:extLst>
              </p:cNvPr>
              <p:cNvSpPr/>
              <p:nvPr/>
            </p:nvSpPr>
            <p:spPr>
              <a:xfrm>
                <a:off x="9339628" y="3698869"/>
                <a:ext cx="1440000" cy="144000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  <a:alpha val="4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0DEF333C-ED07-B08C-6D78-9A5DB850572E}"/>
                  </a:ext>
                </a:extLst>
              </p:cNvPr>
              <p:cNvSpPr/>
              <p:nvPr/>
            </p:nvSpPr>
            <p:spPr>
              <a:xfrm>
                <a:off x="10102440" y="3698869"/>
                <a:ext cx="1440000" cy="144000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  <a:alpha val="4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22C999A7-99F5-F659-AD3E-87407C982843}"/>
                  </a:ext>
                </a:extLst>
              </p:cNvPr>
              <p:cNvSpPr/>
              <p:nvPr/>
            </p:nvSpPr>
            <p:spPr>
              <a:xfrm>
                <a:off x="831707" y="458470"/>
                <a:ext cx="1440000" cy="1440000"/>
              </a:xfrm>
              <a:prstGeom prst="ellipse">
                <a:avLst/>
              </a:prstGeom>
              <a:solidFill>
                <a:schemeClr val="accent5">
                  <a:lumMod val="50000"/>
                  <a:alpha val="4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4165715B-9690-DF34-CD3C-D5DF2D875444}"/>
                  </a:ext>
                </a:extLst>
              </p:cNvPr>
              <p:cNvSpPr/>
              <p:nvPr/>
            </p:nvSpPr>
            <p:spPr>
              <a:xfrm>
                <a:off x="1594519" y="458470"/>
                <a:ext cx="1440000" cy="1440000"/>
              </a:xfrm>
              <a:prstGeom prst="ellipse">
                <a:avLst/>
              </a:prstGeom>
              <a:solidFill>
                <a:schemeClr val="accent5">
                  <a:lumMod val="50000"/>
                  <a:alpha val="4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591E11CF-22E1-DAF8-B1B6-AFEEE3D5271F}"/>
                  </a:ext>
                </a:extLst>
              </p:cNvPr>
              <p:cNvSpPr/>
              <p:nvPr/>
            </p:nvSpPr>
            <p:spPr>
              <a:xfrm>
                <a:off x="832690" y="3710335"/>
                <a:ext cx="1440000" cy="1440000"/>
              </a:xfrm>
              <a:prstGeom prst="ellipse">
                <a:avLst/>
              </a:prstGeom>
              <a:solidFill>
                <a:srgbClr val="FF0000">
                  <a:alpha val="40000"/>
                </a:srgb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54475033-0547-AF29-D6D1-5810F2C4C3B5}"/>
                  </a:ext>
                </a:extLst>
              </p:cNvPr>
              <p:cNvSpPr/>
              <p:nvPr/>
            </p:nvSpPr>
            <p:spPr>
              <a:xfrm>
                <a:off x="1595502" y="3710335"/>
                <a:ext cx="1440000" cy="1440000"/>
              </a:xfrm>
              <a:prstGeom prst="ellipse">
                <a:avLst/>
              </a:prstGeom>
              <a:solidFill>
                <a:srgbClr val="FF0000">
                  <a:alpha val="40000"/>
                </a:srgb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F7185A73-3592-6621-22DB-E61AA70AE5F7}"/>
                  </a:ext>
                </a:extLst>
              </p:cNvPr>
              <p:cNvSpPr/>
              <p:nvPr/>
            </p:nvSpPr>
            <p:spPr>
              <a:xfrm>
                <a:off x="5226350" y="3713199"/>
                <a:ext cx="1440000" cy="1440000"/>
              </a:xfrm>
              <a:prstGeom prst="ellipse">
                <a:avLst/>
              </a:prstGeom>
              <a:solidFill>
                <a:srgbClr val="FF0000">
                  <a:alpha val="40000"/>
                </a:srgb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662037EE-F4EA-D7D1-1283-634166DF4321}"/>
                  </a:ext>
                </a:extLst>
              </p:cNvPr>
              <p:cNvSpPr/>
              <p:nvPr/>
            </p:nvSpPr>
            <p:spPr>
              <a:xfrm>
                <a:off x="5989162" y="3713199"/>
                <a:ext cx="1440000" cy="144000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  <a:alpha val="4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2632D7E-F5CF-FE5E-50BE-A8FA6D447586}"/>
                  </a:ext>
                </a:extLst>
              </p:cNvPr>
              <p:cNvSpPr/>
              <p:nvPr/>
            </p:nvSpPr>
            <p:spPr>
              <a:xfrm>
                <a:off x="5426008" y="3877797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CA2D8EA-1F4C-759C-B13E-AF86F6C8C61A}"/>
                  </a:ext>
                </a:extLst>
              </p:cNvPr>
              <p:cNvSpPr/>
              <p:nvPr/>
            </p:nvSpPr>
            <p:spPr>
              <a:xfrm>
                <a:off x="6188820" y="3877797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FFD7AD3-4EDA-AC0F-DAE0-12A6C5DE7BA3}"/>
                  </a:ext>
                </a:extLst>
              </p:cNvPr>
              <p:cNvSpPr/>
              <p:nvPr/>
            </p:nvSpPr>
            <p:spPr>
              <a:xfrm>
                <a:off x="6150738" y="4047296"/>
                <a:ext cx="395532" cy="7382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8" name="Grafik 8">
                <a:extLst>
                  <a:ext uri="{FF2B5EF4-FFF2-40B4-BE49-F238E27FC236}">
                    <a16:creationId xmlns:a16="http://schemas.microsoft.com/office/drawing/2014/main" id="{1741C5DF-62F0-0847-1ED5-2B100569D36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b="23894"/>
              <a:stretch/>
            </p:blipFill>
            <p:spPr>
              <a:xfrm>
                <a:off x="5531014" y="4033157"/>
                <a:ext cx="780338" cy="593878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F17F5D70-3E06-B5FA-3514-79C2DC149C7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3029" t="14568" r="6279" b="4483"/>
              <a:stretch>
                <a:fillRect/>
              </a:stretch>
            </p:blipFill>
            <p:spPr>
              <a:xfrm>
                <a:off x="6389842" y="4179509"/>
                <a:ext cx="796452" cy="327675"/>
              </a:xfrm>
              <a:prstGeom prst="rect">
                <a:avLst/>
              </a:prstGeom>
            </p:spPr>
          </p:pic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BD553B0-44ED-5425-85D4-5BCF0F274406}"/>
                  </a:ext>
                </a:extLst>
              </p:cNvPr>
              <p:cNvSpPr/>
              <p:nvPr/>
            </p:nvSpPr>
            <p:spPr>
              <a:xfrm>
                <a:off x="9537588" y="3875448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913C600-635B-1BFA-9289-2C8FD500F729}"/>
                  </a:ext>
                </a:extLst>
              </p:cNvPr>
              <p:cNvSpPr/>
              <p:nvPr/>
            </p:nvSpPr>
            <p:spPr>
              <a:xfrm>
                <a:off x="10300400" y="3875448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4C530D0-3F37-81E8-B00F-581511905E31}"/>
                  </a:ext>
                </a:extLst>
              </p:cNvPr>
              <p:cNvSpPr/>
              <p:nvPr/>
            </p:nvSpPr>
            <p:spPr>
              <a:xfrm>
                <a:off x="10262318" y="4034437"/>
                <a:ext cx="395532" cy="745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608FD4-1FEE-D691-F94C-0FA0F6CE8FE9}"/>
                  </a:ext>
                </a:extLst>
              </p:cNvPr>
              <p:cNvSpPr txBox="1"/>
              <p:nvPr/>
            </p:nvSpPr>
            <p:spPr>
              <a:xfrm>
                <a:off x="9696327" y="5142490"/>
                <a:ext cx="16273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E-AS predation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7989C99-03C4-A7EB-9C9E-64D94001F79E}"/>
                  </a:ext>
                </a:extLst>
              </p:cNvPr>
              <p:cNvSpPr/>
              <p:nvPr/>
            </p:nvSpPr>
            <p:spPr>
              <a:xfrm>
                <a:off x="9537588" y="606215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1891AC19-0B50-DCCB-3E48-B335882E9DA4}"/>
                  </a:ext>
                </a:extLst>
              </p:cNvPr>
              <p:cNvSpPr/>
              <p:nvPr/>
            </p:nvSpPr>
            <p:spPr>
              <a:xfrm>
                <a:off x="10300400" y="606215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5FAF1C0-D5FF-58DB-5F11-1B93DEAA48F7}"/>
                  </a:ext>
                </a:extLst>
              </p:cNvPr>
              <p:cNvSpPr/>
              <p:nvPr/>
            </p:nvSpPr>
            <p:spPr>
              <a:xfrm>
                <a:off x="10262318" y="775714"/>
                <a:ext cx="395532" cy="745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28D47D-0F7A-8A35-C39B-08B230319144}"/>
                  </a:ext>
                </a:extLst>
              </p:cNvPr>
              <p:cNvSpPr txBox="1"/>
              <p:nvPr/>
            </p:nvSpPr>
            <p:spPr>
              <a:xfrm>
                <a:off x="9696327" y="127479"/>
                <a:ext cx="15119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PE-AS abiotic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7825029-56D5-E746-4DDD-2A616E706829}"/>
                  </a:ext>
                </a:extLst>
              </p:cNvPr>
              <p:cNvSpPr/>
              <p:nvPr/>
            </p:nvSpPr>
            <p:spPr>
              <a:xfrm>
                <a:off x="1001830" y="621309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20116948-CA24-CF07-8E90-BE140BB8D17E}"/>
                  </a:ext>
                </a:extLst>
              </p:cNvPr>
              <p:cNvSpPr/>
              <p:nvPr/>
            </p:nvSpPr>
            <p:spPr>
              <a:xfrm>
                <a:off x="1764642" y="621309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ED80A9B-3ECD-0E99-BD49-3AFA2545B044}"/>
                  </a:ext>
                </a:extLst>
              </p:cNvPr>
              <p:cNvSpPr/>
              <p:nvPr/>
            </p:nvSpPr>
            <p:spPr>
              <a:xfrm>
                <a:off x="1726560" y="790808"/>
                <a:ext cx="395532" cy="745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E52558B-05E9-679B-3B3A-1B6929BD9A1D}"/>
                  </a:ext>
                </a:extLst>
              </p:cNvPr>
              <p:cNvSpPr txBox="1"/>
              <p:nvPr/>
            </p:nvSpPr>
            <p:spPr>
              <a:xfrm>
                <a:off x="805445" y="124553"/>
                <a:ext cx="22493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S-AS scientific advice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EBECFB1-0716-CDDD-5A12-B5A66A036ECD}"/>
                  </a:ext>
                </a:extLst>
              </p:cNvPr>
              <p:cNvSpPr/>
              <p:nvPr/>
            </p:nvSpPr>
            <p:spPr>
              <a:xfrm>
                <a:off x="1022898" y="3865474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C64B9CB-2BC0-2236-84B6-4881A21844D4}"/>
                  </a:ext>
                </a:extLst>
              </p:cNvPr>
              <p:cNvSpPr/>
              <p:nvPr/>
            </p:nvSpPr>
            <p:spPr>
              <a:xfrm>
                <a:off x="1785710" y="3865474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63324BB-0319-81DC-A61F-4C9B876CB1BB}"/>
                  </a:ext>
                </a:extLst>
              </p:cNvPr>
              <p:cNvSpPr/>
              <p:nvPr/>
            </p:nvSpPr>
            <p:spPr>
              <a:xfrm>
                <a:off x="1747628" y="4034973"/>
                <a:ext cx="395532" cy="745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85DE66D-7BF9-3D38-03EE-064741B8F95A}"/>
                  </a:ext>
                </a:extLst>
              </p:cNvPr>
              <p:cNvSpPr txBox="1"/>
              <p:nvPr/>
            </p:nvSpPr>
            <p:spPr>
              <a:xfrm>
                <a:off x="749217" y="5147497"/>
                <a:ext cx="22557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S-AS mismanagement</a:t>
                </a:r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1462494F-7B2D-893B-97B5-7B44B926FA5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5210" t="9410" r="4098" b="10677"/>
              <a:stretch>
                <a:fillRect/>
              </a:stretch>
            </p:blipFill>
            <p:spPr>
              <a:xfrm>
                <a:off x="9655682" y="901916"/>
                <a:ext cx="796452" cy="323482"/>
              </a:xfrm>
              <a:prstGeom prst="rect">
                <a:avLst/>
              </a:prstGeom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8FC56A64-533C-2501-F4F3-75DA9270F17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5210" t="9410" r="4098" b="10677"/>
              <a:stretch>
                <a:fillRect/>
              </a:stretch>
            </p:blipFill>
            <p:spPr>
              <a:xfrm>
                <a:off x="9660454" y="4171589"/>
                <a:ext cx="796452" cy="323482"/>
              </a:xfrm>
              <a:prstGeom prst="rect">
                <a:avLst/>
              </a:prstGeom>
            </p:spPr>
          </p:pic>
          <p:pic>
            <p:nvPicPr>
              <p:cNvPr id="29" name="Grafik 38" descr="Versiegeln">
                <a:extLst>
                  <a:ext uri="{FF2B5EF4-FFF2-40B4-BE49-F238E27FC236}">
                    <a16:creationId xmlns:a16="http://schemas.microsoft.com/office/drawing/2014/main" id="{9AA04181-0B0F-F626-3705-5650E0A705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0695932" y="4283762"/>
                <a:ext cx="619482" cy="619482"/>
              </a:xfrm>
              <a:prstGeom prst="rect">
                <a:avLst/>
              </a:prstGeom>
            </p:spPr>
          </p:pic>
          <p:pic>
            <p:nvPicPr>
              <p:cNvPr id="30" name="Bild 4">
                <a:extLst>
                  <a:ext uri="{FF2B5EF4-FFF2-40B4-BE49-F238E27FC236}">
                    <a16:creationId xmlns:a16="http://schemas.microsoft.com/office/drawing/2014/main" id="{C8F47AA4-FD3A-CD22-3693-C2C5901864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artisticGlowEdges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24326" y="3979180"/>
                <a:ext cx="609164" cy="609164"/>
              </a:xfrm>
              <a:prstGeom prst="rect">
                <a:avLst/>
              </a:prstGeom>
            </p:spPr>
          </p:pic>
          <p:pic>
            <p:nvPicPr>
              <p:cNvPr id="31" name="Picture 30" descr="Text, icon&#10;&#10;Description automatically generated">
                <a:extLst>
                  <a:ext uri="{FF2B5EF4-FFF2-40B4-BE49-F238E27FC236}">
                    <a16:creationId xmlns:a16="http://schemas.microsoft.com/office/drawing/2014/main" id="{D09499C0-E49E-FB40-9BF1-C7A37732530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/>
              <a:srcRect l="40292" t="14488" r="23052" b="11745"/>
              <a:stretch/>
            </p:blipFill>
            <p:spPr>
              <a:xfrm>
                <a:off x="10562277" y="856897"/>
                <a:ext cx="301626" cy="588593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9BEAF58-072A-E6DB-7E8E-CC0522BF618D}"/>
                  </a:ext>
                </a:extLst>
              </p:cNvPr>
              <p:cNvSpPr txBox="1"/>
              <p:nvPr/>
            </p:nvSpPr>
            <p:spPr>
              <a:xfrm>
                <a:off x="10897576" y="935405"/>
                <a:ext cx="48282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sz="22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38" name="Graphic 37" descr="Downward trend graph outline">
                <a:extLst>
                  <a:ext uri="{FF2B5EF4-FFF2-40B4-BE49-F238E27FC236}">
                    <a16:creationId xmlns:a16="http://schemas.microsoft.com/office/drawing/2014/main" id="{975C192C-F5F5-A000-538E-F1AE05066F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l="22314" t="29367" r="13617" b="28538"/>
              <a:stretch>
                <a:fillRect/>
              </a:stretch>
            </p:blipFill>
            <p:spPr>
              <a:xfrm>
                <a:off x="6480862" y="4433199"/>
                <a:ext cx="585850" cy="353934"/>
              </a:xfrm>
              <a:prstGeom prst="rect">
                <a:avLst/>
              </a:prstGeom>
            </p:spPr>
          </p:pic>
          <p:pic>
            <p:nvPicPr>
              <p:cNvPr id="40" name="Graphic 39" descr="Document with solid fill">
                <a:extLst>
                  <a:ext uri="{FF2B5EF4-FFF2-40B4-BE49-F238E27FC236}">
                    <a16:creationId xmlns:a16="http://schemas.microsoft.com/office/drawing/2014/main" id="{44262899-E29B-DFE7-C4B8-D827710EB6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2000778" y="806767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46" name="Graphic 45" descr="Gavel with solid fill">
                <a:extLst>
                  <a:ext uri="{FF2B5EF4-FFF2-40B4-BE49-F238E27FC236}">
                    <a16:creationId xmlns:a16="http://schemas.microsoft.com/office/drawing/2014/main" id="{2D70EC46-62E8-9106-8876-D4644A324B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1965710" y="4041600"/>
                <a:ext cx="720000" cy="720000"/>
              </a:xfrm>
              <a:prstGeom prst="rect">
                <a:avLst/>
              </a:prstGeom>
            </p:spPr>
          </p:pic>
          <p:pic>
            <p:nvPicPr>
              <p:cNvPr id="54" name="Graphic 53" descr="Questions with solid fill">
                <a:extLst>
                  <a:ext uri="{FF2B5EF4-FFF2-40B4-BE49-F238E27FC236}">
                    <a16:creationId xmlns:a16="http://schemas.microsoft.com/office/drawing/2014/main" id="{650F982E-7A21-C76E-FD8E-593530FBB6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1105698" y="3990110"/>
                <a:ext cx="828000" cy="828000"/>
              </a:xfrm>
              <a:prstGeom prst="rect">
                <a:avLst/>
              </a:prstGeom>
            </p:spPr>
          </p:pic>
          <p:pic>
            <p:nvPicPr>
              <p:cNvPr id="58" name="Graphic 57" descr="Meeting with solid fill">
                <a:extLst>
                  <a:ext uri="{FF2B5EF4-FFF2-40B4-BE49-F238E27FC236}">
                    <a16:creationId xmlns:a16="http://schemas.microsoft.com/office/drawing/2014/main" id="{DD8547DE-29F5-C12F-E5F8-9B5AFD218F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1066700" y="748934"/>
                <a:ext cx="864000" cy="864000"/>
              </a:xfrm>
              <a:prstGeom prst="rect">
                <a:avLst/>
              </a:prstGeom>
            </p:spPr>
          </p:pic>
          <p:pic>
            <p:nvPicPr>
              <p:cNvPr id="73" name="Graphic 72" descr="Downward trend graph outline">
                <a:extLst>
                  <a:ext uri="{FF2B5EF4-FFF2-40B4-BE49-F238E27FC236}">
                    <a16:creationId xmlns:a16="http://schemas.microsoft.com/office/drawing/2014/main" id="{7577BDEE-AE4B-74FD-0C77-14E6359843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l="22314" t="29367" r="13617" b="28538"/>
              <a:stretch>
                <a:fillRect/>
              </a:stretch>
            </p:blipFill>
            <p:spPr>
              <a:xfrm>
                <a:off x="9686967" y="4425703"/>
                <a:ext cx="585850" cy="353934"/>
              </a:xfrm>
              <a:prstGeom prst="rect">
                <a:avLst/>
              </a:prstGeom>
            </p:spPr>
          </p:pic>
          <p:pic>
            <p:nvPicPr>
              <p:cNvPr id="74" name="Graphic 73" descr="Downward trend graph outline">
                <a:extLst>
                  <a:ext uri="{FF2B5EF4-FFF2-40B4-BE49-F238E27FC236}">
                    <a16:creationId xmlns:a16="http://schemas.microsoft.com/office/drawing/2014/main" id="{E1D00BB5-FE14-7BEC-77B8-B13D87AF22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l="22314" t="29367" r="13617" b="28538"/>
              <a:stretch>
                <a:fillRect/>
              </a:stretch>
            </p:blipFill>
            <p:spPr>
              <a:xfrm>
                <a:off x="9701772" y="1151943"/>
                <a:ext cx="585850" cy="353934"/>
              </a:xfrm>
              <a:prstGeom prst="rect">
                <a:avLst/>
              </a:prstGeom>
            </p:spPr>
          </p:pic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F82E8D30-F653-B6C9-EC92-848C74B08F80}"/>
                  </a:ext>
                </a:extLst>
              </p:cNvPr>
              <p:cNvCxnSpPr>
                <a:stCxn id="21" idx="0"/>
                <a:endCxn id="21" idx="2"/>
              </p:cNvCxnSpPr>
              <p:nvPr/>
            </p:nvCxnSpPr>
            <p:spPr>
              <a:xfrm>
                <a:off x="1924326" y="790808"/>
                <a:ext cx="0" cy="7452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1B8E982E-A41F-E0C4-535E-4FAF78DEF4A7}"/>
                  </a:ext>
                </a:extLst>
              </p:cNvPr>
              <p:cNvCxnSpPr>
                <a:cxnSpLocks/>
                <a:stCxn id="24" idx="1"/>
                <a:endCxn id="25" idx="2"/>
              </p:cNvCxnSpPr>
              <p:nvPr/>
            </p:nvCxnSpPr>
            <p:spPr>
              <a:xfrm>
                <a:off x="1943872" y="4023636"/>
                <a:ext cx="1522" cy="756537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27287E26-E57F-3132-441B-CC3804F09241}"/>
                  </a:ext>
                </a:extLst>
              </p:cNvPr>
              <p:cNvCxnSpPr>
                <a:cxnSpLocks/>
                <a:stCxn id="9" idx="0"/>
                <a:endCxn id="5" idx="3"/>
              </p:cNvCxnSpPr>
              <p:nvPr/>
            </p:nvCxnSpPr>
            <p:spPr>
              <a:xfrm flipH="1">
                <a:off x="6346982" y="4047296"/>
                <a:ext cx="1522" cy="752339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BA7E2DD6-44D0-6BCD-A38F-F4AA3F451878}"/>
                  </a:ext>
                </a:extLst>
              </p:cNvPr>
              <p:cNvCxnSpPr>
                <a:cxnSpLocks/>
                <a:stCxn id="17" idx="0"/>
                <a:endCxn id="17" idx="2"/>
              </p:cNvCxnSpPr>
              <p:nvPr/>
            </p:nvCxnSpPr>
            <p:spPr>
              <a:xfrm>
                <a:off x="10460084" y="775714"/>
                <a:ext cx="0" cy="7452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1547AF8C-8A4A-CBAE-0D6B-00C481556422}"/>
                  </a:ext>
                </a:extLst>
              </p:cNvPr>
              <p:cNvCxnSpPr>
                <a:cxnSpLocks/>
                <a:stCxn id="13" idx="0"/>
                <a:endCxn id="12" idx="3"/>
              </p:cNvCxnSpPr>
              <p:nvPr/>
            </p:nvCxnSpPr>
            <p:spPr>
              <a:xfrm flipH="1">
                <a:off x="10458562" y="4034437"/>
                <a:ext cx="1522" cy="762849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Curved Connector 92">
                <a:extLst>
                  <a:ext uri="{FF2B5EF4-FFF2-40B4-BE49-F238E27FC236}">
                    <a16:creationId xmlns:a16="http://schemas.microsoft.com/office/drawing/2014/main" id="{EAEAF575-C1A7-E90E-D25A-7EAEBCBC4B64}"/>
                  </a:ext>
                </a:extLst>
              </p:cNvPr>
              <p:cNvCxnSpPr>
                <a:cxnSpLocks/>
                <a:stCxn id="20" idx="3"/>
                <a:endCxn id="25" idx="0"/>
              </p:cNvCxnSpPr>
              <p:nvPr/>
            </p:nvCxnSpPr>
            <p:spPr>
              <a:xfrm rot="16200000" flipH="1">
                <a:off x="688186" y="2777765"/>
                <a:ext cx="2491826" cy="22590"/>
              </a:xfrm>
              <a:prstGeom prst="curvedConnector3">
                <a:avLst>
                  <a:gd name="adj1" fmla="val 50000"/>
                </a:avLst>
              </a:prstGeom>
              <a:ln w="28575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EBC50D6D-457C-FF01-47EC-07B7842D1266}"/>
                  </a:ext>
                </a:extLst>
              </p:cNvPr>
              <p:cNvSpPr/>
              <p:nvPr/>
            </p:nvSpPr>
            <p:spPr>
              <a:xfrm>
                <a:off x="5226350" y="452617"/>
                <a:ext cx="1440000" cy="1440000"/>
              </a:xfrm>
              <a:prstGeom prst="ellipse">
                <a:avLst/>
              </a:prstGeom>
              <a:solidFill>
                <a:srgbClr val="FF0000">
                  <a:alpha val="40000"/>
                </a:srgb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DCC79D22-744B-5D11-E1F4-8B96D4CEA080}"/>
                  </a:ext>
                </a:extLst>
              </p:cNvPr>
              <p:cNvSpPr/>
              <p:nvPr/>
            </p:nvSpPr>
            <p:spPr>
              <a:xfrm>
                <a:off x="5989162" y="452617"/>
                <a:ext cx="1440000" cy="1440000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  <a:alpha val="4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C49D8536-F427-3DE9-40DF-FCFFA7053363}"/>
                  </a:ext>
                </a:extLst>
              </p:cNvPr>
              <p:cNvSpPr/>
              <p:nvPr/>
            </p:nvSpPr>
            <p:spPr>
              <a:xfrm>
                <a:off x="5426008" y="617215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39731F54-766D-4DEA-8918-178D570C824E}"/>
                  </a:ext>
                </a:extLst>
              </p:cNvPr>
              <p:cNvSpPr/>
              <p:nvPr/>
            </p:nvSpPr>
            <p:spPr>
              <a:xfrm>
                <a:off x="6188820" y="617215"/>
                <a:ext cx="1080000" cy="10800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371821A-FD37-D956-2DF4-925802257941}"/>
                  </a:ext>
                </a:extLst>
              </p:cNvPr>
              <p:cNvSpPr txBox="1"/>
              <p:nvPr/>
            </p:nvSpPr>
            <p:spPr>
              <a:xfrm>
                <a:off x="5320001" y="127396"/>
                <a:ext cx="19736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SE-AS recreational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A9B96A10-4EA0-7143-AFD9-55C07785AC2D}"/>
                  </a:ext>
                </a:extLst>
              </p:cNvPr>
              <p:cNvSpPr/>
              <p:nvPr/>
            </p:nvSpPr>
            <p:spPr>
              <a:xfrm>
                <a:off x="6150738" y="786714"/>
                <a:ext cx="395532" cy="7382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5" name="Picture 104">
                <a:extLst>
                  <a:ext uri="{FF2B5EF4-FFF2-40B4-BE49-F238E27FC236}">
                    <a16:creationId xmlns:a16="http://schemas.microsoft.com/office/drawing/2014/main" id="{FF0F0399-0827-CDF1-18B4-54DEF0F75A5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3029" t="14568" r="6279" b="4483"/>
              <a:stretch>
                <a:fillRect/>
              </a:stretch>
            </p:blipFill>
            <p:spPr>
              <a:xfrm>
                <a:off x="6389842" y="918927"/>
                <a:ext cx="796452" cy="327675"/>
              </a:xfrm>
              <a:prstGeom prst="rect">
                <a:avLst/>
              </a:prstGeom>
            </p:spPr>
          </p:pic>
          <p:pic>
            <p:nvPicPr>
              <p:cNvPr id="106" name="Graphic 105" descr="Downward trend graph outline">
                <a:extLst>
                  <a:ext uri="{FF2B5EF4-FFF2-40B4-BE49-F238E27FC236}">
                    <a16:creationId xmlns:a16="http://schemas.microsoft.com/office/drawing/2014/main" id="{1BA34523-5905-9EB0-E8A0-DB1DA1727B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 l="22314" t="29367" r="13617" b="28538"/>
              <a:stretch>
                <a:fillRect/>
              </a:stretch>
            </p:blipFill>
            <p:spPr>
              <a:xfrm>
                <a:off x="6480862" y="1172617"/>
                <a:ext cx="585850" cy="353934"/>
              </a:xfrm>
              <a:prstGeom prst="rect">
                <a:avLst/>
              </a:prstGeom>
            </p:spPr>
          </p:pic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2DEC335D-AE5C-A04D-9CEB-294E59FFEC69}"/>
                  </a:ext>
                </a:extLst>
              </p:cNvPr>
              <p:cNvCxnSpPr>
                <a:cxnSpLocks/>
                <a:stCxn id="103" idx="0"/>
                <a:endCxn id="101" idx="3"/>
              </p:cNvCxnSpPr>
              <p:nvPr/>
            </p:nvCxnSpPr>
            <p:spPr>
              <a:xfrm flipH="1">
                <a:off x="6346982" y="786714"/>
                <a:ext cx="1522" cy="752339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8" name="Bild 4">
                <a:extLst>
                  <a:ext uri="{FF2B5EF4-FFF2-40B4-BE49-F238E27FC236}">
                    <a16:creationId xmlns:a16="http://schemas.microsoft.com/office/drawing/2014/main" id="{A91BE73C-10C8-7100-52DA-FB599D79C0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BEBA8EAE-BF5A-486C-A8C5-ECC9F3942E4B}">
                    <a14:imgProps xmlns:a14="http://schemas.microsoft.com/office/drawing/2010/main">
                      <a14:imgLayer r:embed="rId22">
                        <a14:imgEffect>
                          <a14:artisticCutout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78496" y="849027"/>
                <a:ext cx="668657" cy="576000"/>
              </a:xfrm>
              <a:prstGeom prst="rect">
                <a:avLst/>
              </a:prstGeom>
            </p:spPr>
          </p:pic>
          <p:cxnSp>
            <p:nvCxnSpPr>
              <p:cNvPr id="111" name="Curved Connector 110">
                <a:extLst>
                  <a:ext uri="{FF2B5EF4-FFF2-40B4-BE49-F238E27FC236}">
                    <a16:creationId xmlns:a16="http://schemas.microsoft.com/office/drawing/2014/main" id="{351A5F34-5F46-16FE-D016-F91F32C1E1F2}"/>
                  </a:ext>
                </a:extLst>
              </p:cNvPr>
              <p:cNvCxnSpPr>
                <a:cxnSpLocks/>
                <a:stCxn id="24" idx="6"/>
                <a:endCxn id="4" idx="2"/>
              </p:cNvCxnSpPr>
              <p:nvPr/>
            </p:nvCxnSpPr>
            <p:spPr>
              <a:xfrm>
                <a:off x="2865710" y="4405474"/>
                <a:ext cx="2560298" cy="12323"/>
              </a:xfrm>
              <a:prstGeom prst="curvedConnector3">
                <a:avLst>
                  <a:gd name="adj1" fmla="val 50000"/>
                </a:avLst>
              </a:prstGeom>
              <a:ln w="28575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" name="Curved Connector 114">
                <a:extLst>
                  <a:ext uri="{FF2B5EF4-FFF2-40B4-BE49-F238E27FC236}">
                    <a16:creationId xmlns:a16="http://schemas.microsoft.com/office/drawing/2014/main" id="{4C691005-65B7-B061-69DC-A0C8472A1857}"/>
                  </a:ext>
                </a:extLst>
              </p:cNvPr>
              <p:cNvCxnSpPr>
                <a:cxnSpLocks/>
                <a:stCxn id="24" idx="6"/>
                <a:endCxn id="100" idx="2"/>
              </p:cNvCxnSpPr>
              <p:nvPr/>
            </p:nvCxnSpPr>
            <p:spPr>
              <a:xfrm flipV="1">
                <a:off x="2865710" y="1157215"/>
                <a:ext cx="2560298" cy="3248259"/>
              </a:xfrm>
              <a:prstGeom prst="curvedConnector3">
                <a:avLst>
                  <a:gd name="adj1" fmla="val 50000"/>
                </a:avLst>
              </a:prstGeom>
              <a:ln w="28575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Curved Connector 121">
                <a:extLst>
                  <a:ext uri="{FF2B5EF4-FFF2-40B4-BE49-F238E27FC236}">
                    <a16:creationId xmlns:a16="http://schemas.microsoft.com/office/drawing/2014/main" id="{B29B7D84-5473-BB21-FECF-89B7183A5401}"/>
                  </a:ext>
                </a:extLst>
              </p:cNvPr>
              <p:cNvCxnSpPr>
                <a:cxnSpLocks/>
                <a:stCxn id="11" idx="2"/>
                <a:endCxn id="5" idx="6"/>
              </p:cNvCxnSpPr>
              <p:nvPr/>
            </p:nvCxnSpPr>
            <p:spPr>
              <a:xfrm rot="10800000" flipV="1">
                <a:off x="7268820" y="4415447"/>
                <a:ext cx="2268768" cy="2349"/>
              </a:xfrm>
              <a:prstGeom prst="curvedConnector3">
                <a:avLst>
                  <a:gd name="adj1" fmla="val 50000"/>
                </a:avLst>
              </a:prstGeom>
              <a:ln w="28575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7" name="Curved Connector 126">
                <a:extLst>
                  <a:ext uri="{FF2B5EF4-FFF2-40B4-BE49-F238E27FC236}">
                    <a16:creationId xmlns:a16="http://schemas.microsoft.com/office/drawing/2014/main" id="{0D8A28EA-2CB5-6965-1DC4-788938994A05}"/>
                  </a:ext>
                </a:extLst>
              </p:cNvPr>
              <p:cNvCxnSpPr>
                <a:cxnSpLocks/>
                <a:stCxn id="15" idx="2"/>
                <a:endCxn id="5" idx="6"/>
              </p:cNvCxnSpPr>
              <p:nvPr/>
            </p:nvCxnSpPr>
            <p:spPr>
              <a:xfrm rot="10800000" flipV="1">
                <a:off x="7268820" y="1146215"/>
                <a:ext cx="2268768" cy="3271582"/>
              </a:xfrm>
              <a:prstGeom prst="curvedConnector3">
                <a:avLst>
                  <a:gd name="adj1" fmla="val 50000"/>
                </a:avLst>
              </a:prstGeom>
              <a:ln w="28575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Curved Connector 131">
                <a:extLst>
                  <a:ext uri="{FF2B5EF4-FFF2-40B4-BE49-F238E27FC236}">
                    <a16:creationId xmlns:a16="http://schemas.microsoft.com/office/drawing/2014/main" id="{3335ABC7-904C-FB19-E902-E746D7753208}"/>
                  </a:ext>
                </a:extLst>
              </p:cNvPr>
              <p:cNvCxnSpPr>
                <a:cxnSpLocks/>
                <a:stCxn id="101" idx="3"/>
                <a:endCxn id="9" idx="0"/>
              </p:cNvCxnSpPr>
              <p:nvPr/>
            </p:nvCxnSpPr>
            <p:spPr>
              <a:xfrm rot="16200000" flipH="1">
                <a:off x="5093622" y="2792413"/>
                <a:ext cx="2508243" cy="1522"/>
              </a:xfrm>
              <a:prstGeom prst="curvedConnector3">
                <a:avLst>
                  <a:gd name="adj1" fmla="val 50000"/>
                </a:avLst>
              </a:prstGeom>
              <a:ln w="28575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9B6D08-9157-7061-BD98-8C046FB6A362}"/>
                  </a:ext>
                </a:extLst>
              </p:cNvPr>
              <p:cNvSpPr txBox="1"/>
              <p:nvPr/>
            </p:nvSpPr>
            <p:spPr>
              <a:xfrm>
                <a:off x="5416966" y="5149180"/>
                <a:ext cx="18453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SE-AS harvesting</a:t>
                </a: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88BC0697-7B99-BE12-8D3D-1089A81FE9C3}"/>
                  </a:ext>
                </a:extLst>
              </p:cNvPr>
              <p:cNvSpPr/>
              <p:nvPr/>
            </p:nvSpPr>
            <p:spPr>
              <a:xfrm>
                <a:off x="5192971" y="2497350"/>
                <a:ext cx="2206800" cy="5148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810235BA-2B89-C564-9FF7-08031B46C278}"/>
                  </a:ext>
                </a:extLst>
              </p:cNvPr>
              <p:cNvSpPr txBox="1"/>
              <p:nvPr/>
            </p:nvSpPr>
            <p:spPr>
              <a:xfrm>
                <a:off x="5180825" y="2495277"/>
                <a:ext cx="2217600" cy="5184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Recreational catches higher</a:t>
                </a:r>
              </a:p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than commercial catches</a:t>
                </a: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4A7893D2-FFE1-1175-CBA6-29794D50536B}"/>
                  </a:ext>
                </a:extLst>
              </p:cNvPr>
              <p:cNvSpPr/>
              <p:nvPr/>
            </p:nvSpPr>
            <p:spPr>
              <a:xfrm>
                <a:off x="3304524" y="2003403"/>
                <a:ext cx="1900800" cy="309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D8B926B3-4454-9FD9-4AD2-264A222EE90F}"/>
                  </a:ext>
                </a:extLst>
              </p:cNvPr>
              <p:cNvSpPr txBox="1"/>
              <p:nvPr/>
            </p:nvSpPr>
            <p:spPr>
              <a:xfrm>
                <a:off x="3303688" y="2006015"/>
                <a:ext cx="1902584" cy="30777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Baglimits were too high</a:t>
                </a: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0DC9C35D-BEA1-B5CF-2212-5F5D9772ADAB}"/>
                  </a:ext>
                </a:extLst>
              </p:cNvPr>
              <p:cNvSpPr/>
              <p:nvPr/>
            </p:nvSpPr>
            <p:spPr>
              <a:xfrm>
                <a:off x="853766" y="2513896"/>
                <a:ext cx="2120400" cy="52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7EF9619-AB44-66CA-C295-DE07CB0E9A96}"/>
                  </a:ext>
                </a:extLst>
              </p:cNvPr>
              <p:cNvSpPr txBox="1"/>
              <p:nvPr/>
            </p:nvSpPr>
            <p:spPr>
              <a:xfrm>
                <a:off x="856143" y="2512676"/>
                <a:ext cx="2121093" cy="5232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ICES advice overestimates</a:t>
                </a:r>
              </a:p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stock abundance</a:t>
                </a: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B08595B3-1FB1-B47B-082A-981ADE49CE85}"/>
                  </a:ext>
                </a:extLst>
              </p:cNvPr>
              <p:cNvSpPr/>
              <p:nvPr/>
            </p:nvSpPr>
            <p:spPr>
              <a:xfrm>
                <a:off x="3633837" y="4172199"/>
                <a:ext cx="961200" cy="52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E73F0EA9-85A9-1B66-0E31-386AE6004488}"/>
                  </a:ext>
                </a:extLst>
              </p:cNvPr>
              <p:cNvSpPr txBox="1"/>
              <p:nvPr/>
            </p:nvSpPr>
            <p:spPr>
              <a:xfrm>
                <a:off x="3635057" y="4171589"/>
                <a:ext cx="959750" cy="52322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TACs were</a:t>
                </a:r>
              </a:p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too high</a:t>
                </a: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E7C0E10B-9C2A-8641-6B46-D4A2EC48ABE8}"/>
                  </a:ext>
                </a:extLst>
              </p:cNvPr>
              <p:cNvSpPr/>
              <p:nvPr/>
            </p:nvSpPr>
            <p:spPr>
              <a:xfrm>
                <a:off x="7796590" y="1946874"/>
                <a:ext cx="1850400" cy="73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B9FF07EF-6D09-E998-7AB7-727BA7212F71}"/>
                  </a:ext>
                </a:extLst>
              </p:cNvPr>
              <p:cNvSpPr txBox="1"/>
              <p:nvPr/>
            </p:nvSpPr>
            <p:spPr>
              <a:xfrm>
                <a:off x="7793387" y="1946960"/>
                <a:ext cx="1856597" cy="73866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3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Temperature increase,</a:t>
                </a:r>
              </a:p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oxygen depletion, and </a:t>
                </a:r>
              </a:p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eutrophication</a:t>
                </a: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4AC2AEBD-D2A3-1EAD-F331-6CC7C8A36598}"/>
                  </a:ext>
                </a:extLst>
              </p:cNvPr>
              <p:cNvSpPr/>
              <p:nvPr/>
            </p:nvSpPr>
            <p:spPr>
              <a:xfrm>
                <a:off x="7936195" y="4237605"/>
                <a:ext cx="896400" cy="309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6BA63D58-7190-C691-11FC-9BCDDBD8F2AA}"/>
                  </a:ext>
                </a:extLst>
              </p:cNvPr>
              <p:cNvSpPr txBox="1"/>
              <p:nvPr/>
            </p:nvSpPr>
            <p:spPr>
              <a:xfrm>
                <a:off x="7937747" y="4237326"/>
                <a:ext cx="896143" cy="3077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  <a:alpha val="3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Predation</a:t>
                </a:r>
              </a:p>
            </p:txBody>
          </p: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07CE2AB2-4B18-9325-2411-E418718631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406" y="5697415"/>
                <a:ext cx="10884755" cy="0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1E90B486-A784-43A6-36D8-D1E310D47F43}"/>
                  </a:ext>
                </a:extLst>
              </p:cNvPr>
              <p:cNvSpPr txBox="1"/>
              <p:nvPr/>
            </p:nvSpPr>
            <p:spPr>
              <a:xfrm>
                <a:off x="3160507" y="5723502"/>
                <a:ext cx="10951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Depletion</a:t>
                </a: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1CED0D78-423F-3424-A6E8-072FE96A0C1A}"/>
                  </a:ext>
                </a:extLst>
              </p:cNvPr>
              <p:cNvSpPr txBox="1"/>
              <p:nvPr/>
            </p:nvSpPr>
            <p:spPr>
              <a:xfrm>
                <a:off x="9107557" y="5717613"/>
                <a:ext cx="14670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Non-recovery</a:t>
                </a:r>
              </a:p>
            </p:txBody>
          </p: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A107C772-4822-F1DC-F4B4-F2CB264F1E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0124" y="5689959"/>
                <a:ext cx="0" cy="402875"/>
              </a:xfrm>
              <a:prstGeom prst="line">
                <a:avLst/>
              </a:prstGeom>
              <a:ln w="1270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CB85A76B-2D35-1B7A-89BB-1B723F130D63}"/>
                </a:ext>
              </a:extLst>
            </p:cNvPr>
            <p:cNvSpPr txBox="1"/>
            <p:nvPr/>
          </p:nvSpPr>
          <p:spPr>
            <a:xfrm>
              <a:off x="4720880" y="294538"/>
              <a:ext cx="28841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Western Baltic cod collapse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9613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C162E-05E7-AC15-C651-B82954A7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Oval 70">
            <a:extLst>
              <a:ext uri="{FF2B5EF4-FFF2-40B4-BE49-F238E27FC236}">
                <a16:creationId xmlns:a16="http://schemas.microsoft.com/office/drawing/2014/main" id="{5C7B3119-59F3-3265-82A9-44C2D0B5A7EA}"/>
              </a:ext>
            </a:extLst>
          </p:cNvPr>
          <p:cNvSpPr/>
          <p:nvPr/>
        </p:nvSpPr>
        <p:spPr>
          <a:xfrm>
            <a:off x="9340104" y="360886"/>
            <a:ext cx="1440000" cy="1440000"/>
          </a:xfrm>
          <a:prstGeom prst="ellipse">
            <a:avLst/>
          </a:prstGeom>
          <a:solidFill>
            <a:schemeClr val="tx2">
              <a:lumMod val="75000"/>
              <a:lumOff val="25000"/>
              <a:alpha val="4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B45C103-AB54-F14A-8A40-806A06E7093C}"/>
              </a:ext>
            </a:extLst>
          </p:cNvPr>
          <p:cNvSpPr/>
          <p:nvPr/>
        </p:nvSpPr>
        <p:spPr>
          <a:xfrm>
            <a:off x="10102916" y="360886"/>
            <a:ext cx="1440000" cy="1440000"/>
          </a:xfrm>
          <a:prstGeom prst="ellipse">
            <a:avLst/>
          </a:prstGeom>
          <a:solidFill>
            <a:schemeClr val="bg1">
              <a:lumMod val="65000"/>
              <a:alpha val="4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77161E6-152A-8F76-50F5-BB1CC6390ED2}"/>
              </a:ext>
            </a:extLst>
          </p:cNvPr>
          <p:cNvSpPr/>
          <p:nvPr/>
        </p:nvSpPr>
        <p:spPr>
          <a:xfrm>
            <a:off x="9339628" y="3698869"/>
            <a:ext cx="1440000" cy="1440000"/>
          </a:xfrm>
          <a:prstGeom prst="ellipse">
            <a:avLst/>
          </a:prstGeom>
          <a:solidFill>
            <a:schemeClr val="tx2">
              <a:lumMod val="75000"/>
              <a:lumOff val="25000"/>
              <a:alpha val="4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FB51FE6-C2D0-F465-A2B3-2197603E6440}"/>
              </a:ext>
            </a:extLst>
          </p:cNvPr>
          <p:cNvSpPr/>
          <p:nvPr/>
        </p:nvSpPr>
        <p:spPr>
          <a:xfrm>
            <a:off x="10102440" y="3698869"/>
            <a:ext cx="1440000" cy="1440000"/>
          </a:xfrm>
          <a:prstGeom prst="ellipse">
            <a:avLst/>
          </a:prstGeom>
          <a:solidFill>
            <a:schemeClr val="tx2">
              <a:lumMod val="75000"/>
              <a:lumOff val="25000"/>
              <a:alpha val="4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2E24FF0-EF12-F3FC-C6D6-74CCE87907B7}"/>
              </a:ext>
            </a:extLst>
          </p:cNvPr>
          <p:cNvSpPr/>
          <p:nvPr/>
        </p:nvSpPr>
        <p:spPr>
          <a:xfrm>
            <a:off x="831707" y="458470"/>
            <a:ext cx="1440000" cy="1440000"/>
          </a:xfrm>
          <a:prstGeom prst="ellipse">
            <a:avLst/>
          </a:prstGeom>
          <a:solidFill>
            <a:srgbClr val="7030A0">
              <a:alpha val="4000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802242F-3BB7-7671-AB25-88462202A373}"/>
              </a:ext>
            </a:extLst>
          </p:cNvPr>
          <p:cNvSpPr/>
          <p:nvPr/>
        </p:nvSpPr>
        <p:spPr>
          <a:xfrm>
            <a:off x="1594519" y="458470"/>
            <a:ext cx="1440000" cy="1440000"/>
          </a:xfrm>
          <a:prstGeom prst="ellipse">
            <a:avLst/>
          </a:prstGeom>
          <a:solidFill>
            <a:srgbClr val="7030A0">
              <a:alpha val="4000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BBDD01C-976C-7F61-E609-9B5CBD70DA2E}"/>
              </a:ext>
            </a:extLst>
          </p:cNvPr>
          <p:cNvSpPr/>
          <p:nvPr/>
        </p:nvSpPr>
        <p:spPr>
          <a:xfrm>
            <a:off x="797871" y="3718639"/>
            <a:ext cx="1440000" cy="1440000"/>
          </a:xfrm>
          <a:prstGeom prst="ellipse">
            <a:avLst/>
          </a:prstGeom>
          <a:solidFill>
            <a:srgbClr val="FF0000">
              <a:alpha val="4000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4C5BA12-B260-2030-952D-4C90339E9C9D}"/>
              </a:ext>
            </a:extLst>
          </p:cNvPr>
          <p:cNvSpPr/>
          <p:nvPr/>
        </p:nvSpPr>
        <p:spPr>
          <a:xfrm>
            <a:off x="1560683" y="3718639"/>
            <a:ext cx="1440000" cy="1440000"/>
          </a:xfrm>
          <a:prstGeom prst="ellipse">
            <a:avLst/>
          </a:prstGeom>
          <a:solidFill>
            <a:srgbClr val="FF0000">
              <a:alpha val="4000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FBDF93F-E9B2-8372-F6A9-0C35664E78A5}"/>
              </a:ext>
            </a:extLst>
          </p:cNvPr>
          <p:cNvSpPr/>
          <p:nvPr/>
        </p:nvSpPr>
        <p:spPr>
          <a:xfrm>
            <a:off x="5226350" y="3713199"/>
            <a:ext cx="1440000" cy="1440000"/>
          </a:xfrm>
          <a:prstGeom prst="ellipse">
            <a:avLst/>
          </a:prstGeom>
          <a:solidFill>
            <a:srgbClr val="FF0000">
              <a:alpha val="4000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D1F2B8F-60FD-3F62-7FE4-8294EC4D2A28}"/>
              </a:ext>
            </a:extLst>
          </p:cNvPr>
          <p:cNvSpPr/>
          <p:nvPr/>
        </p:nvSpPr>
        <p:spPr>
          <a:xfrm>
            <a:off x="5989162" y="3713199"/>
            <a:ext cx="1440000" cy="1440000"/>
          </a:xfrm>
          <a:prstGeom prst="ellipse">
            <a:avLst/>
          </a:prstGeom>
          <a:solidFill>
            <a:schemeClr val="tx2">
              <a:lumMod val="75000"/>
              <a:lumOff val="25000"/>
              <a:alpha val="4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593619F-A605-2616-9446-9E4FC803300D}"/>
              </a:ext>
            </a:extLst>
          </p:cNvPr>
          <p:cNvSpPr/>
          <p:nvPr/>
        </p:nvSpPr>
        <p:spPr>
          <a:xfrm>
            <a:off x="5426008" y="3877797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F6B1746-9140-1F58-3500-F82B75ADAE66}"/>
              </a:ext>
            </a:extLst>
          </p:cNvPr>
          <p:cNvSpPr/>
          <p:nvPr/>
        </p:nvSpPr>
        <p:spPr>
          <a:xfrm>
            <a:off x="6188820" y="3877797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A2A153-9CA4-EFF8-D290-91DC0C6C3BF5}"/>
              </a:ext>
            </a:extLst>
          </p:cNvPr>
          <p:cNvSpPr/>
          <p:nvPr/>
        </p:nvSpPr>
        <p:spPr>
          <a:xfrm>
            <a:off x="6150738" y="4047296"/>
            <a:ext cx="395532" cy="738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fik 8">
            <a:extLst>
              <a:ext uri="{FF2B5EF4-FFF2-40B4-BE49-F238E27FC236}">
                <a16:creationId xmlns:a16="http://schemas.microsoft.com/office/drawing/2014/main" id="{BB298911-9234-834A-9950-9E62EC26F0D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23894"/>
          <a:stretch/>
        </p:blipFill>
        <p:spPr>
          <a:xfrm>
            <a:off x="5531014" y="4033157"/>
            <a:ext cx="780338" cy="5938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148FB5-E2A5-D77D-EE25-06EBFCB1477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029" t="14568" r="6279" b="4483"/>
          <a:stretch>
            <a:fillRect/>
          </a:stretch>
        </p:blipFill>
        <p:spPr>
          <a:xfrm>
            <a:off x="6389842" y="4179509"/>
            <a:ext cx="796452" cy="32767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DFC55759-033F-B471-5C1B-2F2C9027EC54}"/>
              </a:ext>
            </a:extLst>
          </p:cNvPr>
          <p:cNvSpPr/>
          <p:nvPr/>
        </p:nvSpPr>
        <p:spPr>
          <a:xfrm>
            <a:off x="9537588" y="3875448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029DED8-9DC5-6344-F9B7-772B1D3A8366}"/>
              </a:ext>
            </a:extLst>
          </p:cNvPr>
          <p:cNvSpPr/>
          <p:nvPr/>
        </p:nvSpPr>
        <p:spPr>
          <a:xfrm>
            <a:off x="10300400" y="3875448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35E995-5446-C7DF-2B9D-5616E6C71BCD}"/>
              </a:ext>
            </a:extLst>
          </p:cNvPr>
          <p:cNvSpPr/>
          <p:nvPr/>
        </p:nvSpPr>
        <p:spPr>
          <a:xfrm>
            <a:off x="10262318" y="4034437"/>
            <a:ext cx="395532" cy="74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0768B5-1AE9-125B-86DF-A4A8BDBAA5DD}"/>
              </a:ext>
            </a:extLst>
          </p:cNvPr>
          <p:cNvSpPr txBox="1"/>
          <p:nvPr/>
        </p:nvSpPr>
        <p:spPr>
          <a:xfrm>
            <a:off x="9696327" y="5142490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E-AS predation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38E07ED-D358-B0E4-DC45-4F8320B47268}"/>
              </a:ext>
            </a:extLst>
          </p:cNvPr>
          <p:cNvSpPr/>
          <p:nvPr/>
        </p:nvSpPr>
        <p:spPr>
          <a:xfrm>
            <a:off x="9538064" y="514484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C94F9B5-5D5A-CAA7-1118-19E1A1BC6DFB}"/>
              </a:ext>
            </a:extLst>
          </p:cNvPr>
          <p:cNvSpPr/>
          <p:nvPr/>
        </p:nvSpPr>
        <p:spPr>
          <a:xfrm>
            <a:off x="10300876" y="514484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CE666E-FC9E-795D-8BE0-99A44F220F95}"/>
              </a:ext>
            </a:extLst>
          </p:cNvPr>
          <p:cNvSpPr/>
          <p:nvPr/>
        </p:nvSpPr>
        <p:spPr>
          <a:xfrm>
            <a:off x="10262794" y="683983"/>
            <a:ext cx="395532" cy="74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CB9AEC-BCC0-4A34-9237-B9F06B965706}"/>
              </a:ext>
            </a:extLst>
          </p:cNvPr>
          <p:cNvSpPr txBox="1"/>
          <p:nvPr/>
        </p:nvSpPr>
        <p:spPr>
          <a:xfrm>
            <a:off x="9688521" y="24543"/>
            <a:ext cx="151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PE-AS abiotic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605AC7F-7865-2066-966C-472D134FD09D}"/>
              </a:ext>
            </a:extLst>
          </p:cNvPr>
          <p:cNvSpPr/>
          <p:nvPr/>
        </p:nvSpPr>
        <p:spPr>
          <a:xfrm>
            <a:off x="1001830" y="621309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31606E5-AE28-3FCB-8660-1F649B43F88E}"/>
              </a:ext>
            </a:extLst>
          </p:cNvPr>
          <p:cNvSpPr/>
          <p:nvPr/>
        </p:nvSpPr>
        <p:spPr>
          <a:xfrm>
            <a:off x="1764642" y="621309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070A7CD-30AB-D9BA-97F0-0222085C4CC4}"/>
              </a:ext>
            </a:extLst>
          </p:cNvPr>
          <p:cNvSpPr/>
          <p:nvPr/>
        </p:nvSpPr>
        <p:spPr>
          <a:xfrm>
            <a:off x="1726560" y="790808"/>
            <a:ext cx="395532" cy="74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BCF6A2-47EA-26C4-3203-A76712B7AA83}"/>
              </a:ext>
            </a:extLst>
          </p:cNvPr>
          <p:cNvSpPr txBox="1"/>
          <p:nvPr/>
        </p:nvSpPr>
        <p:spPr>
          <a:xfrm>
            <a:off x="805445" y="124553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S-AS scientific advice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CD7777F-0834-C425-EEBD-4EA74D3173EA}"/>
              </a:ext>
            </a:extLst>
          </p:cNvPr>
          <p:cNvSpPr/>
          <p:nvPr/>
        </p:nvSpPr>
        <p:spPr>
          <a:xfrm>
            <a:off x="988079" y="3873778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7D6A916-8A54-AF4B-1BBA-B0CF7F0795B5}"/>
              </a:ext>
            </a:extLst>
          </p:cNvPr>
          <p:cNvSpPr/>
          <p:nvPr/>
        </p:nvSpPr>
        <p:spPr>
          <a:xfrm>
            <a:off x="1750891" y="3873778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456508-FE5B-83B7-69AC-7EC0CAC3643A}"/>
              </a:ext>
            </a:extLst>
          </p:cNvPr>
          <p:cNvSpPr/>
          <p:nvPr/>
        </p:nvSpPr>
        <p:spPr>
          <a:xfrm>
            <a:off x="1712809" y="4043277"/>
            <a:ext cx="395532" cy="74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3FDBC1-EAC6-A466-2445-07C91C62F466}"/>
              </a:ext>
            </a:extLst>
          </p:cNvPr>
          <p:cNvSpPr txBox="1"/>
          <p:nvPr/>
        </p:nvSpPr>
        <p:spPr>
          <a:xfrm>
            <a:off x="749217" y="5147497"/>
            <a:ext cx="2255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S-AS mismanagement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516FEC0-439F-E574-F6DD-FDA23323172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210" t="9410" r="4098" b="10677"/>
          <a:stretch>
            <a:fillRect/>
          </a:stretch>
        </p:blipFill>
        <p:spPr>
          <a:xfrm>
            <a:off x="9655143" y="748148"/>
            <a:ext cx="796452" cy="32348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41E0605-DA93-5B30-EC95-69F9E53EAD5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210" t="9410" r="4098" b="10677"/>
          <a:stretch>
            <a:fillRect/>
          </a:stretch>
        </p:blipFill>
        <p:spPr>
          <a:xfrm>
            <a:off x="9657982" y="4118682"/>
            <a:ext cx="796452" cy="323482"/>
          </a:xfrm>
          <a:prstGeom prst="rect">
            <a:avLst/>
          </a:prstGeom>
        </p:spPr>
      </p:pic>
      <p:pic>
        <p:nvPicPr>
          <p:cNvPr id="29" name="Grafik 38" descr="Versiegeln">
            <a:extLst>
              <a:ext uri="{FF2B5EF4-FFF2-40B4-BE49-F238E27FC236}">
                <a16:creationId xmlns:a16="http://schemas.microsoft.com/office/drawing/2014/main" id="{F19C51C0-DA65-3CAE-0A3E-10DD72869B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95932" y="4283762"/>
            <a:ext cx="619482" cy="619482"/>
          </a:xfrm>
          <a:prstGeom prst="rect">
            <a:avLst/>
          </a:prstGeom>
        </p:spPr>
      </p:pic>
      <p:pic>
        <p:nvPicPr>
          <p:cNvPr id="30" name="Bild 4">
            <a:extLst>
              <a:ext uri="{FF2B5EF4-FFF2-40B4-BE49-F238E27FC236}">
                <a16:creationId xmlns:a16="http://schemas.microsoft.com/office/drawing/2014/main" id="{B6AC7323-0AA2-2B99-3C39-24E1B46A7A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4326" y="3979180"/>
            <a:ext cx="609164" cy="609164"/>
          </a:xfrm>
          <a:prstGeom prst="rect">
            <a:avLst/>
          </a:prstGeom>
        </p:spPr>
      </p:pic>
      <p:pic>
        <p:nvPicPr>
          <p:cNvPr id="31" name="Picture 30" descr="Text, icon&#10;&#10;Description automatically generated">
            <a:extLst>
              <a:ext uri="{FF2B5EF4-FFF2-40B4-BE49-F238E27FC236}">
                <a16:creationId xmlns:a16="http://schemas.microsoft.com/office/drawing/2014/main" id="{967802A8-80C6-8ECF-26C8-490B8CFFD29D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40292" t="14488" r="23052" b="11745"/>
          <a:stretch/>
        </p:blipFill>
        <p:spPr>
          <a:xfrm>
            <a:off x="10562753" y="765166"/>
            <a:ext cx="301626" cy="58859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F5CE4CE-E034-8E9B-502F-1711197C2BC5}"/>
              </a:ext>
            </a:extLst>
          </p:cNvPr>
          <p:cNvSpPr txBox="1"/>
          <p:nvPr/>
        </p:nvSpPr>
        <p:spPr>
          <a:xfrm>
            <a:off x="10898052" y="843674"/>
            <a:ext cx="48282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2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Graphic 37" descr="Downward trend graph outline">
            <a:extLst>
              <a:ext uri="{FF2B5EF4-FFF2-40B4-BE49-F238E27FC236}">
                <a16:creationId xmlns:a16="http://schemas.microsoft.com/office/drawing/2014/main" id="{8025C560-093C-2AF8-0C5D-AEB6F30E756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2314" t="29367" r="13617" b="28538"/>
          <a:stretch>
            <a:fillRect/>
          </a:stretch>
        </p:blipFill>
        <p:spPr>
          <a:xfrm>
            <a:off x="6480862" y="4433199"/>
            <a:ext cx="585850" cy="353934"/>
          </a:xfrm>
          <a:prstGeom prst="rect">
            <a:avLst/>
          </a:prstGeom>
        </p:spPr>
      </p:pic>
      <p:pic>
        <p:nvPicPr>
          <p:cNvPr id="40" name="Graphic 39" descr="Document with solid fill">
            <a:extLst>
              <a:ext uri="{FF2B5EF4-FFF2-40B4-BE49-F238E27FC236}">
                <a16:creationId xmlns:a16="http://schemas.microsoft.com/office/drawing/2014/main" id="{5A02B99D-CC0D-0557-2282-A6F5C931870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000778" y="806767"/>
            <a:ext cx="720000" cy="720000"/>
          </a:xfrm>
          <a:prstGeom prst="rect">
            <a:avLst/>
          </a:prstGeom>
        </p:spPr>
      </p:pic>
      <p:pic>
        <p:nvPicPr>
          <p:cNvPr id="46" name="Graphic 45" descr="Gavel with solid fill">
            <a:extLst>
              <a:ext uri="{FF2B5EF4-FFF2-40B4-BE49-F238E27FC236}">
                <a16:creationId xmlns:a16="http://schemas.microsoft.com/office/drawing/2014/main" id="{2FAC0678-0609-B162-B53D-368E52EE9A2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930891" y="4049904"/>
            <a:ext cx="720000" cy="720000"/>
          </a:xfrm>
          <a:prstGeom prst="rect">
            <a:avLst/>
          </a:prstGeom>
        </p:spPr>
      </p:pic>
      <p:pic>
        <p:nvPicPr>
          <p:cNvPr id="54" name="Graphic 53" descr="Questions with solid fill">
            <a:extLst>
              <a:ext uri="{FF2B5EF4-FFF2-40B4-BE49-F238E27FC236}">
                <a16:creationId xmlns:a16="http://schemas.microsoft.com/office/drawing/2014/main" id="{A8E2A7D7-EB39-4B31-D0E0-5AF7F03EF53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70879" y="3998414"/>
            <a:ext cx="828000" cy="828000"/>
          </a:xfrm>
          <a:prstGeom prst="rect">
            <a:avLst/>
          </a:prstGeom>
        </p:spPr>
      </p:pic>
      <p:pic>
        <p:nvPicPr>
          <p:cNvPr id="58" name="Graphic 57" descr="Meeting with solid fill">
            <a:extLst>
              <a:ext uri="{FF2B5EF4-FFF2-40B4-BE49-F238E27FC236}">
                <a16:creationId xmlns:a16="http://schemas.microsoft.com/office/drawing/2014/main" id="{8584A18A-235D-BA10-0010-97112C7A3FD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66700" y="748934"/>
            <a:ext cx="864000" cy="864000"/>
          </a:xfrm>
          <a:prstGeom prst="rect">
            <a:avLst/>
          </a:prstGeom>
        </p:spPr>
      </p:pic>
      <p:pic>
        <p:nvPicPr>
          <p:cNvPr id="73" name="Graphic 72" descr="Downward trend graph outline">
            <a:extLst>
              <a:ext uri="{FF2B5EF4-FFF2-40B4-BE49-F238E27FC236}">
                <a16:creationId xmlns:a16="http://schemas.microsoft.com/office/drawing/2014/main" id="{472D3B8F-5314-30E6-6218-306E1B438B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2314" t="29367" r="13617" b="28538"/>
          <a:stretch>
            <a:fillRect/>
          </a:stretch>
        </p:blipFill>
        <p:spPr>
          <a:xfrm>
            <a:off x="9686967" y="4425703"/>
            <a:ext cx="585850" cy="353934"/>
          </a:xfrm>
          <a:prstGeom prst="rect">
            <a:avLst/>
          </a:prstGeom>
        </p:spPr>
      </p:pic>
      <p:pic>
        <p:nvPicPr>
          <p:cNvPr id="74" name="Graphic 73" descr="Downward trend graph outline">
            <a:extLst>
              <a:ext uri="{FF2B5EF4-FFF2-40B4-BE49-F238E27FC236}">
                <a16:creationId xmlns:a16="http://schemas.microsoft.com/office/drawing/2014/main" id="{82328721-967D-BD55-A80A-8C2B8216931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2314" t="29367" r="13617" b="28538"/>
          <a:stretch>
            <a:fillRect/>
          </a:stretch>
        </p:blipFill>
        <p:spPr>
          <a:xfrm>
            <a:off x="9702248" y="1051420"/>
            <a:ext cx="585850" cy="353934"/>
          </a:xfrm>
          <a:prstGeom prst="rect">
            <a:avLst/>
          </a:prstGeom>
        </p:spPr>
      </p:pic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27439E9-204E-D787-E015-2DFB7EFEE688}"/>
              </a:ext>
            </a:extLst>
          </p:cNvPr>
          <p:cNvCxnSpPr>
            <a:stCxn id="21" idx="0"/>
            <a:endCxn id="21" idx="2"/>
          </p:cNvCxnSpPr>
          <p:nvPr/>
        </p:nvCxnSpPr>
        <p:spPr>
          <a:xfrm>
            <a:off x="1924326" y="790808"/>
            <a:ext cx="0" cy="7452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CFDBDE3-4E60-86E6-AC99-C4E9C46A7455}"/>
              </a:ext>
            </a:extLst>
          </p:cNvPr>
          <p:cNvCxnSpPr>
            <a:cxnSpLocks/>
            <a:stCxn id="24" idx="1"/>
            <a:endCxn id="25" idx="2"/>
          </p:cNvCxnSpPr>
          <p:nvPr/>
        </p:nvCxnSpPr>
        <p:spPr>
          <a:xfrm>
            <a:off x="1909053" y="4031940"/>
            <a:ext cx="1522" cy="7565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8A4F488-541F-C10B-1D81-FB60AD7C6FA0}"/>
              </a:ext>
            </a:extLst>
          </p:cNvPr>
          <p:cNvCxnSpPr>
            <a:cxnSpLocks/>
            <a:stCxn id="9" idx="0"/>
            <a:endCxn id="5" idx="3"/>
          </p:cNvCxnSpPr>
          <p:nvPr/>
        </p:nvCxnSpPr>
        <p:spPr>
          <a:xfrm flipH="1">
            <a:off x="6346982" y="4047296"/>
            <a:ext cx="1522" cy="75233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414258E-660C-344F-D83E-0B382E005E5B}"/>
              </a:ext>
            </a:extLst>
          </p:cNvPr>
          <p:cNvCxnSpPr>
            <a:cxnSpLocks/>
            <a:stCxn id="17" idx="0"/>
            <a:endCxn id="17" idx="2"/>
          </p:cNvCxnSpPr>
          <p:nvPr/>
        </p:nvCxnSpPr>
        <p:spPr>
          <a:xfrm>
            <a:off x="10460560" y="683983"/>
            <a:ext cx="0" cy="7452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4AC945A-26B5-90F9-257C-40C712B0B70E}"/>
              </a:ext>
            </a:extLst>
          </p:cNvPr>
          <p:cNvCxnSpPr>
            <a:cxnSpLocks/>
            <a:stCxn id="13" idx="0"/>
            <a:endCxn id="12" idx="3"/>
          </p:cNvCxnSpPr>
          <p:nvPr/>
        </p:nvCxnSpPr>
        <p:spPr>
          <a:xfrm flipH="1">
            <a:off x="10458562" y="4034437"/>
            <a:ext cx="1522" cy="76284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urved Connector 92">
            <a:extLst>
              <a:ext uri="{FF2B5EF4-FFF2-40B4-BE49-F238E27FC236}">
                <a16:creationId xmlns:a16="http://schemas.microsoft.com/office/drawing/2014/main" id="{8C0BD4B2-DF89-8EB5-A6EB-A5971ABEBD30}"/>
              </a:ext>
            </a:extLst>
          </p:cNvPr>
          <p:cNvCxnSpPr>
            <a:cxnSpLocks/>
            <a:stCxn id="20" idx="3"/>
            <a:endCxn id="25" idx="0"/>
          </p:cNvCxnSpPr>
          <p:nvPr/>
        </p:nvCxnSpPr>
        <p:spPr>
          <a:xfrm rot="5400000">
            <a:off x="666625" y="2787098"/>
            <a:ext cx="2500130" cy="12229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3A01A1B1-64C6-E4B2-51BA-8BC5BE1F5121}"/>
              </a:ext>
            </a:extLst>
          </p:cNvPr>
          <p:cNvSpPr txBox="1"/>
          <p:nvPr/>
        </p:nvSpPr>
        <p:spPr>
          <a:xfrm>
            <a:off x="856143" y="2512676"/>
            <a:ext cx="2121093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ICES advice overestimates</a:t>
            </a:r>
          </a:p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abundance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3D5F8237-4339-441E-CFE6-416FDF94F877}"/>
              </a:ext>
            </a:extLst>
          </p:cNvPr>
          <p:cNvSpPr/>
          <p:nvPr/>
        </p:nvSpPr>
        <p:spPr>
          <a:xfrm>
            <a:off x="5224337" y="392845"/>
            <a:ext cx="1440000" cy="1440000"/>
          </a:xfrm>
          <a:prstGeom prst="ellipse">
            <a:avLst/>
          </a:prstGeom>
          <a:solidFill>
            <a:srgbClr val="FF0000">
              <a:alpha val="4000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5D9D8579-1A1F-5DB0-BFDA-45CA04219312}"/>
              </a:ext>
            </a:extLst>
          </p:cNvPr>
          <p:cNvSpPr/>
          <p:nvPr/>
        </p:nvSpPr>
        <p:spPr>
          <a:xfrm>
            <a:off x="5987149" y="392845"/>
            <a:ext cx="1440000" cy="1440000"/>
          </a:xfrm>
          <a:prstGeom prst="ellipse">
            <a:avLst/>
          </a:prstGeom>
          <a:solidFill>
            <a:schemeClr val="tx2">
              <a:lumMod val="75000"/>
              <a:lumOff val="25000"/>
              <a:alpha val="4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5D2D194E-F953-1709-88D8-2D2578B73EC2}"/>
              </a:ext>
            </a:extLst>
          </p:cNvPr>
          <p:cNvSpPr/>
          <p:nvPr/>
        </p:nvSpPr>
        <p:spPr>
          <a:xfrm>
            <a:off x="5423995" y="557443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194864D4-A85C-829F-F5FC-028B0118BAD7}"/>
              </a:ext>
            </a:extLst>
          </p:cNvPr>
          <p:cNvSpPr/>
          <p:nvPr/>
        </p:nvSpPr>
        <p:spPr>
          <a:xfrm>
            <a:off x="6186807" y="557443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5AD41A3-CA59-368E-CE92-34DBFA833E6D}"/>
              </a:ext>
            </a:extLst>
          </p:cNvPr>
          <p:cNvSpPr txBox="1"/>
          <p:nvPr/>
        </p:nvSpPr>
        <p:spPr>
          <a:xfrm>
            <a:off x="5413688" y="44825"/>
            <a:ext cx="197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SE-AS recreational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3EA1EE5-0EE6-5C4A-6D57-F8472E093145}"/>
              </a:ext>
            </a:extLst>
          </p:cNvPr>
          <p:cNvSpPr/>
          <p:nvPr/>
        </p:nvSpPr>
        <p:spPr>
          <a:xfrm>
            <a:off x="6148725" y="726942"/>
            <a:ext cx="395532" cy="738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3A29B159-F12E-D647-C65D-EF8305E1FC8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029" t="14568" r="6279" b="4483"/>
          <a:stretch>
            <a:fillRect/>
          </a:stretch>
        </p:blipFill>
        <p:spPr>
          <a:xfrm>
            <a:off x="6387829" y="859155"/>
            <a:ext cx="796452" cy="327675"/>
          </a:xfrm>
          <a:prstGeom prst="rect">
            <a:avLst/>
          </a:prstGeom>
        </p:spPr>
      </p:pic>
      <p:pic>
        <p:nvPicPr>
          <p:cNvPr id="106" name="Graphic 105" descr="Downward trend graph outline">
            <a:extLst>
              <a:ext uri="{FF2B5EF4-FFF2-40B4-BE49-F238E27FC236}">
                <a16:creationId xmlns:a16="http://schemas.microsoft.com/office/drawing/2014/main" id="{0E9D14E6-3B71-541F-8828-30BF294C38F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2314" t="29367" r="13617" b="28538"/>
          <a:stretch>
            <a:fillRect/>
          </a:stretch>
        </p:blipFill>
        <p:spPr>
          <a:xfrm>
            <a:off x="6478849" y="1112845"/>
            <a:ext cx="585850" cy="353934"/>
          </a:xfrm>
          <a:prstGeom prst="rect">
            <a:avLst/>
          </a:prstGeom>
        </p:spPr>
      </p:pic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527065B-424F-308D-FAD6-8AD4CD0BE91D}"/>
              </a:ext>
            </a:extLst>
          </p:cNvPr>
          <p:cNvCxnSpPr>
            <a:cxnSpLocks/>
            <a:stCxn id="103" idx="0"/>
            <a:endCxn id="101" idx="3"/>
          </p:cNvCxnSpPr>
          <p:nvPr/>
        </p:nvCxnSpPr>
        <p:spPr>
          <a:xfrm flipH="1">
            <a:off x="6344969" y="726942"/>
            <a:ext cx="1522" cy="75233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8" name="Bild 4">
            <a:extLst>
              <a:ext uri="{FF2B5EF4-FFF2-40B4-BE49-F238E27FC236}">
                <a16:creationId xmlns:a16="http://schemas.microsoft.com/office/drawing/2014/main" id="{B6BDC711-F3E3-6D48-AE38-0DC116F3055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483" y="789255"/>
            <a:ext cx="668657" cy="576000"/>
          </a:xfrm>
          <a:prstGeom prst="rect">
            <a:avLst/>
          </a:prstGeom>
        </p:spPr>
      </p:pic>
      <p:cxnSp>
        <p:nvCxnSpPr>
          <p:cNvPr id="111" name="Curved Connector 110">
            <a:extLst>
              <a:ext uri="{FF2B5EF4-FFF2-40B4-BE49-F238E27FC236}">
                <a16:creationId xmlns:a16="http://schemas.microsoft.com/office/drawing/2014/main" id="{951CAC3A-B693-A61A-B4CB-AED267F5C6A3}"/>
              </a:ext>
            </a:extLst>
          </p:cNvPr>
          <p:cNvCxnSpPr>
            <a:cxnSpLocks/>
            <a:stCxn id="24" idx="6"/>
            <a:endCxn id="4" idx="2"/>
          </p:cNvCxnSpPr>
          <p:nvPr/>
        </p:nvCxnSpPr>
        <p:spPr>
          <a:xfrm>
            <a:off x="2830891" y="4413778"/>
            <a:ext cx="2595117" cy="4019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Curved Connector 114">
            <a:extLst>
              <a:ext uri="{FF2B5EF4-FFF2-40B4-BE49-F238E27FC236}">
                <a16:creationId xmlns:a16="http://schemas.microsoft.com/office/drawing/2014/main" id="{E027661F-F639-D5EB-CDD6-5DD4BE5B5141}"/>
              </a:ext>
            </a:extLst>
          </p:cNvPr>
          <p:cNvCxnSpPr>
            <a:cxnSpLocks/>
            <a:stCxn id="24" idx="6"/>
            <a:endCxn id="100" idx="2"/>
          </p:cNvCxnSpPr>
          <p:nvPr/>
        </p:nvCxnSpPr>
        <p:spPr>
          <a:xfrm flipV="1">
            <a:off x="2830891" y="1097443"/>
            <a:ext cx="2593104" cy="3316335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01EA1CFE-DEA9-A472-4387-79D7A3AF4019}"/>
              </a:ext>
            </a:extLst>
          </p:cNvPr>
          <p:cNvSpPr txBox="1"/>
          <p:nvPr/>
        </p:nvSpPr>
        <p:spPr>
          <a:xfrm>
            <a:off x="3635057" y="4171589"/>
            <a:ext cx="959750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TACs were</a:t>
            </a:r>
          </a:p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high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6D9082E-EF3C-6F55-CE2C-E1F15375D1D4}"/>
              </a:ext>
            </a:extLst>
          </p:cNvPr>
          <p:cNvSpPr txBox="1"/>
          <p:nvPr/>
        </p:nvSpPr>
        <p:spPr>
          <a:xfrm>
            <a:off x="3303688" y="2003403"/>
            <a:ext cx="189962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Baglimits were too high</a:t>
            </a:r>
          </a:p>
        </p:txBody>
      </p:sp>
      <p:cxnSp>
        <p:nvCxnSpPr>
          <p:cNvPr id="122" name="Curved Connector 121">
            <a:extLst>
              <a:ext uri="{FF2B5EF4-FFF2-40B4-BE49-F238E27FC236}">
                <a16:creationId xmlns:a16="http://schemas.microsoft.com/office/drawing/2014/main" id="{3CA0D859-92BD-6192-F8F9-8BD8AEA816C2}"/>
              </a:ext>
            </a:extLst>
          </p:cNvPr>
          <p:cNvCxnSpPr>
            <a:cxnSpLocks/>
            <a:stCxn id="11" idx="2"/>
            <a:endCxn id="5" idx="6"/>
          </p:cNvCxnSpPr>
          <p:nvPr/>
        </p:nvCxnSpPr>
        <p:spPr>
          <a:xfrm rot="10800000" flipV="1">
            <a:off x="7268820" y="4415447"/>
            <a:ext cx="2268768" cy="2349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5E6786CE-2372-C87A-C4C7-33E6E25F2363}"/>
              </a:ext>
            </a:extLst>
          </p:cNvPr>
          <p:cNvSpPr txBox="1"/>
          <p:nvPr/>
        </p:nvSpPr>
        <p:spPr>
          <a:xfrm>
            <a:off x="7641541" y="4230010"/>
            <a:ext cx="1481239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Predation hinders</a:t>
            </a:r>
          </a:p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</a:t>
            </a:r>
          </a:p>
        </p:txBody>
      </p:sp>
      <p:cxnSp>
        <p:nvCxnSpPr>
          <p:cNvPr id="127" name="Curved Connector 126">
            <a:extLst>
              <a:ext uri="{FF2B5EF4-FFF2-40B4-BE49-F238E27FC236}">
                <a16:creationId xmlns:a16="http://schemas.microsoft.com/office/drawing/2014/main" id="{217BD9DD-C525-CF0F-6437-7433EFD6CCBA}"/>
              </a:ext>
            </a:extLst>
          </p:cNvPr>
          <p:cNvCxnSpPr>
            <a:cxnSpLocks/>
            <a:stCxn id="15" idx="2"/>
            <a:endCxn id="5" idx="6"/>
          </p:cNvCxnSpPr>
          <p:nvPr/>
        </p:nvCxnSpPr>
        <p:spPr>
          <a:xfrm rot="10800000" flipV="1">
            <a:off x="7268820" y="1054483"/>
            <a:ext cx="2269244" cy="3363313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1FF3C1F1-3B36-D9E9-17C6-2EA5FAD913D4}"/>
              </a:ext>
            </a:extLst>
          </p:cNvPr>
          <p:cNvSpPr txBox="1"/>
          <p:nvPr/>
        </p:nvSpPr>
        <p:spPr>
          <a:xfrm>
            <a:off x="7474707" y="1939293"/>
            <a:ext cx="3315588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increase and oxygen depletion</a:t>
            </a:r>
          </a:p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hinder recovery</a:t>
            </a:r>
          </a:p>
        </p:txBody>
      </p:sp>
      <p:cxnSp>
        <p:nvCxnSpPr>
          <p:cNvPr id="132" name="Curved Connector 131">
            <a:extLst>
              <a:ext uri="{FF2B5EF4-FFF2-40B4-BE49-F238E27FC236}">
                <a16:creationId xmlns:a16="http://schemas.microsoft.com/office/drawing/2014/main" id="{039FA0F4-49FB-760F-C8F8-91D30E6AEF37}"/>
              </a:ext>
            </a:extLst>
          </p:cNvPr>
          <p:cNvCxnSpPr>
            <a:cxnSpLocks/>
            <a:stCxn id="101" idx="3"/>
            <a:endCxn id="9" idx="0"/>
          </p:cNvCxnSpPr>
          <p:nvPr/>
        </p:nvCxnSpPr>
        <p:spPr>
          <a:xfrm rot="16200000" flipH="1">
            <a:off x="5062729" y="2761520"/>
            <a:ext cx="2568015" cy="3535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A74FD56-984C-4F4E-10F1-96892F28DBD9}"/>
              </a:ext>
            </a:extLst>
          </p:cNvPr>
          <p:cNvSpPr txBox="1"/>
          <p:nvPr/>
        </p:nvSpPr>
        <p:spPr>
          <a:xfrm>
            <a:off x="5416966" y="5149180"/>
            <a:ext cx="18453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SE-AS harvesting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CEA7BE0-5863-0D2D-65EB-4743FAA6AE14}"/>
              </a:ext>
            </a:extLst>
          </p:cNvPr>
          <p:cNvSpPr txBox="1"/>
          <p:nvPr/>
        </p:nvSpPr>
        <p:spPr>
          <a:xfrm>
            <a:off x="5208454" y="2516242"/>
            <a:ext cx="220579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Recreational catches higher</a:t>
            </a:r>
          </a:p>
          <a:p>
            <a:pPr algn="ctr"/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commercial catches</a:t>
            </a:r>
          </a:p>
        </p:txBody>
      </p:sp>
    </p:spTree>
    <p:extLst>
      <p:ext uri="{BB962C8B-B14F-4D97-AF65-F5344CB8AC3E}">
        <p14:creationId xmlns:p14="http://schemas.microsoft.com/office/powerpoint/2010/main" val="3702874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176</Words>
  <Application>Microsoft Macintosh PowerPoint</Application>
  <PresentationFormat>Widescreen</PresentationFormat>
  <Paragraphs>51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Alexandra Blöcker</dc:creator>
  <cp:lastModifiedBy>Alexandra Blöcker</cp:lastModifiedBy>
  <cp:revision>54</cp:revision>
  <dcterms:created xsi:type="dcterms:W3CDTF">2026-01-19T10:38:47Z</dcterms:created>
  <dcterms:modified xsi:type="dcterms:W3CDTF">2026-01-19T16:33:20Z</dcterms:modified>
</cp:coreProperties>
</file>